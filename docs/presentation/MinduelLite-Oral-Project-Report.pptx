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MahmoudBKanaan/MiduelLite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MahmoudBKanaan/MiduelLite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0515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MINDUEL LITE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457200" y="169164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AAB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Interest-Based Two-Player Intellectual Competition Web Application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8229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AB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IU International University of Applied Sciences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9AAB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Course: DLBSEPPSD01_E — Software Development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9AAB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Examination: Oral Project Report · Task 2 — Development of a Web Application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3246120"/>
            <a:ext cx="8229600" cy="777240"/>
          </a:xfrm>
          <a:prstGeom prst="roundRect">
            <a:avLst>
              <a:gd name="adj" fmla="val 9412"/>
            </a:avLst>
          </a:prstGeom>
          <a:solidFill>
            <a:srgbClr val="1A2332"/>
          </a:solidFill>
          <a:ln w="19050">
            <a:solidFill>
              <a:srgbClr val="4F8C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3337560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B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repository (title-slide link)</a:t>
            </a:r>
            <a:endParaRPr lang="en-US" sz="1200" dirty="0"/>
          </a:p>
        </p:txBody>
      </p:sp>
      <p:sp>
        <p:nvSpPr>
          <p:cNvPr id="7" name="Text 5">
            <a:hlinkClick r:id="rId1" tooltip=""/>
          </p:cNvPr>
          <p:cNvSpPr/>
          <p:nvPr/>
        </p:nvSpPr>
        <p:spPr>
          <a:xfrm>
            <a:off x="640080" y="3611880"/>
            <a:ext cx="7863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u="sng" dirty="0">
                <a:solidFill>
                  <a:srgbClr val="4F8CF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https://github.com/MahmoudBKanaan/MiduelLite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57200" y="4251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 name  ·  Matriculation number  ·  [replace before submission]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4828032"/>
            <a:ext cx="6583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B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Minduel Lite  ·  DLBSEPPSD01_E  ·  Oral Project Report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7863840" y="4828032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B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1/18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8229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Outline — process over UI walkthrough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676656"/>
            <a:ext cx="1005840" cy="45720"/>
          </a:xfrm>
          <a:prstGeom prst="rect">
            <a:avLst/>
          </a:prstGeom>
          <a:solidFill>
            <a:srgbClr val="4F8CFF"/>
          </a:solidFill>
          <a:ln w="12700">
            <a:solidFill>
              <a:srgbClr val="4F8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9601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ECF8E"/>
                </a:solidFill>
              </a:rPr>
              <a:t>Presentation focus (IU oral project report)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1325880"/>
            <a:ext cx="804672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5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definition — problem, objective, users, requirements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5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Planning &amp; process — Kanban, iterative-incremental model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5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 &amp; data — C4 containers, ER model, matchmaking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5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Implementation — state machine, core logic, security choices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5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result — operational demo evidence (not a screen tour)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5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Testing &amp; Docker — automated tests, reproducible run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5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Reflection — goal achievement, limits, lessons, outlook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457200" y="4828032"/>
            <a:ext cx="6583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B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Minduel Lite  ·  DLBSEPPSD01_E  ·  Oral Project Report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7863840" y="4828032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B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2/18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8229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Task definition — problem &amp; objective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676656"/>
            <a:ext cx="1005840" cy="45720"/>
          </a:xfrm>
          <a:prstGeom prst="rect">
            <a:avLst/>
          </a:prstGeom>
          <a:solidFill>
            <a:srgbClr val="4F8CFF"/>
          </a:solidFill>
          <a:ln w="12700">
            <a:solidFill>
              <a:srgbClr val="4F8C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1005840"/>
            <a:ext cx="4023360" cy="3200400"/>
          </a:xfrm>
          <a:prstGeom prst="roundRect">
            <a:avLst>
              <a:gd name="adj" fmla="val 2286"/>
            </a:avLst>
          </a:prstGeom>
          <a:solidFill>
            <a:srgbClr val="1A2332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14300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F8CFF"/>
                </a:solidFill>
              </a:rPr>
              <a:t>Problem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40080" y="1554480"/>
            <a:ext cx="36576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8EEF7"/>
                </a:solidFill>
              </a:rPr>
              <a:t>Short intellectual interaction is often blocked by registration, permanent profiles, and social features that are unnecessary for a brief two-player exchange.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663440" y="1005840"/>
            <a:ext cx="4023360" cy="3200400"/>
          </a:xfrm>
          <a:prstGeom prst="roundRect">
            <a:avLst>
              <a:gd name="adj" fmla="val 2286"/>
            </a:avLst>
          </a:prstGeom>
          <a:solidFill>
            <a:srgbClr val="1A2332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846320" y="114300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ECF8E"/>
                </a:solidFill>
              </a:rPr>
              <a:t>Objective (Task 2)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4846320" y="1554480"/>
            <a:ext cx="36576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8EEF7"/>
                </a:solidFill>
              </a:rPr>
              <a:t>Deliver a demonstrable full-stack SPA: React frontend, Node/Express backend, PostgreSQL, two-user interaction, automated tests, Docker Compose, and documentation — optimised for submission reliability, not commercial scale.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57200" y="4828032"/>
            <a:ext cx="6583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B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Minduel Lite  ·  DLBSEPPSD01_E  ·  Oral Project Report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7863840" y="4828032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B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3/18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8229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Task definition — users &amp; benefit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676656"/>
            <a:ext cx="1005840" cy="45720"/>
          </a:xfrm>
          <a:prstGeom prst="rect">
            <a:avLst/>
          </a:prstGeom>
          <a:solidFill>
            <a:srgbClr val="4F8CFF"/>
          </a:solidFill>
          <a:ln w="12700">
            <a:solidFill>
              <a:srgbClr val="4F8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05156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EEF7"/>
                </a:solidFill>
              </a:rPr>
              <a:t>Primary user: </a:t>
            </a:r>
            <a:pPr indent="0" marL="0">
              <a:buNone/>
            </a:pPr>
            <a:r>
              <a:rPr lang="en-US" sz="1500" dirty="0">
                <a:solidFill>
                  <a:srgbClr val="E8EEF7"/>
                </a:solidFill>
              </a:rPr>
              <a:t>person seeking a short, anonymous intellectual competition without permanent identity or PII.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457200" y="1828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F8CFF"/>
                </a:solidFill>
              </a:rPr>
              <a:t>Derived requirements for the solution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48640" y="2194560"/>
            <a:ext cx="804672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8EEF7"/>
                </a:solidFill>
              </a:rPr>
              <a:t>Zero signup friction → temporary session (playerId + sessionToken)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8EEF7"/>
                </a:solidFill>
              </a:rPr>
              <a:t>Meaningful pairing → interest overlap matchmaking (no ML stack)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8EEF7"/>
                </a:solidFill>
              </a:rPr>
              <a:t>Two-user interaction → turn-based peer-scored match state machine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8EEF7"/>
                </a:solidFill>
              </a:rPr>
              <a:t>Demonstrable full stack → SPA + API + DB + Docker Compose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4828032"/>
            <a:ext cx="6583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B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Minduel Lite  ·  DLBSEPPSD01_E  ·  Oral Project Report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7863840" y="4828032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B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4/18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8229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Task definition — MVP scope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676656"/>
            <a:ext cx="1005840" cy="45720"/>
          </a:xfrm>
          <a:prstGeom prst="rect">
            <a:avLst/>
          </a:prstGeom>
          <a:solidFill>
            <a:srgbClr val="4F8CFF"/>
          </a:solidFill>
          <a:ln w="12700">
            <a:solidFill>
              <a:srgbClr val="4F8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9601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9AABBF"/>
                </a:solidFill>
              </a:rPr>
              <a:t>Scope reduction is an engineering decision aligned with the knowledge base and IU Task 2.</a:t>
            </a:r>
            <a:endParaRPr lang="en-US" sz="13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71600"/>
          <a:ext cx="8229600" cy="2926080"/>
        </p:xfrm>
        <a:graphic>
          <a:graphicData uri="http://schemas.openxmlformats.org/drawingml/2006/table">
            <a:tbl>
              <a:tblPr/>
              <a:tblGrid>
                <a:gridCol w="4114800"/>
                <a:gridCol w="4114800"/>
              </a:tblGrid>
              <a:tr h="487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 scope (built)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Explicitly excluded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2020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E8EEF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React SPA, Express API, PostgreSQL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33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E8EEF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Accounts / OAuth / JWT login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332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E8EEF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routes; temporary sessions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33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E8EEF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WebSockets, WebRTC audio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332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E8EEF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Matchmaking 3→2→1 interests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33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E8EEF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Chat, rankings, history UI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332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E8EEF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Peer scoring, flags, results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33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E8EEF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Cloud / K8s / microservices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332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E8EEF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Tests, Docker Compose, docs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33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E8EEF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 scoring, admin CMS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332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4828032"/>
            <a:ext cx="6583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B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Minduel Lite  ·  DLBSEPPSD01_E  ·  Oral Project Report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7863840" y="4828032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B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5/18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8229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Planning &amp; process — Kanban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676656"/>
            <a:ext cx="1005840" cy="45720"/>
          </a:xfrm>
          <a:prstGeom prst="rect">
            <a:avLst/>
          </a:prstGeom>
          <a:solidFill>
            <a:srgbClr val="4F8CFF"/>
          </a:solidFill>
          <a:ln w="12700">
            <a:solidFill>
              <a:srgbClr val="4F8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9601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ECF8E"/>
                </a:solidFill>
              </a:rPr>
              <a:t>Model: Iterative-Incremental Development managed with Kanban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57200" y="1371600"/>
            <a:ext cx="484632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E8EEF7"/>
                </a:solidFill>
              </a:rPr>
              <a:t>Why not pure Scrum? Solo student, fixed MVP, short timeline — ceremonies add overhead without team coordination benefit.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E8EEF7"/>
                </a:solidFill>
              </a:rPr>
              <a:t>Increments: concept → foundation → matchmaking → match engine → result → tests/docs → presentation.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E8EEF7"/>
                </a:solidFill>
              </a:rPr>
              <a:t>Board columns: BACKLOG → READY → IN PROGRESS → TEST → DONE (evidence below).</a:t>
            </a:r>
            <a:endParaRPr lang="en-US" sz="1300" dirty="0"/>
          </a:p>
        </p:txBody>
      </p:sp>
      <p:pic>
        <p:nvPicPr>
          <p:cNvPr id="6" name="Image 0" descr="D:\Documents\IU\MinduelLite\docs\screenshots\196-kanban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0" y="1051560"/>
            <a:ext cx="3200400" cy="32004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457200" y="452628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AAB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 1. Kanban board snapshot (own project process evidence).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457200" y="4828032"/>
            <a:ext cx="6583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B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Minduel Lite  ·  DLBSEPPSD01_E  ·  Oral Project Report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7863840" y="4828032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B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6/18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8229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Planning — user journey (not a UI tour)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676656"/>
            <a:ext cx="1005840" cy="45720"/>
          </a:xfrm>
          <a:prstGeom prst="rect">
            <a:avLst/>
          </a:prstGeom>
          <a:solidFill>
            <a:srgbClr val="4F8CFF"/>
          </a:solidFill>
          <a:ln w="12700">
            <a:solidFill>
              <a:srgbClr val="4F8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914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9AABBF"/>
                </a:solidFill>
              </a:rPr>
              <a:t>Four screens map the planned flow; the oral report emphasises process and architecture around this journey.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3258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F8CFF"/>
                </a:solidFill>
              </a:rPr>
              <a:t>Welcome → Pool → Match → Result  |  Play again → Pool  |  Reset → Welcome</a:t>
            </a:r>
            <a:endParaRPr lang="en-US" sz="1400" dirty="0"/>
          </a:p>
        </p:txBody>
      </p:sp>
      <p:pic>
        <p:nvPicPr>
          <p:cNvPr id="6" name="Image 0" descr="D:\Documents\IU\MinduelLite\docs\screenshots\192-welcom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65760" y="1737360"/>
            <a:ext cx="2011680" cy="246888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365760" y="4251960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AABBF"/>
                </a:solidFill>
              </a:rPr>
              <a:t>Welcome</a:t>
            </a:r>
            <a:endParaRPr lang="en-US" sz="1100" dirty="0"/>
          </a:p>
        </p:txBody>
      </p:sp>
      <p:pic>
        <p:nvPicPr>
          <p:cNvPr id="8" name="Image 1" descr="D:\Documents\IU\MinduelLite\docs\screenshots\193-pool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2560320" y="1737360"/>
            <a:ext cx="2011680" cy="24688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2560320" y="4251960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AABBF"/>
                </a:solidFill>
              </a:rPr>
              <a:t>Pool</a:t>
            </a:r>
            <a:endParaRPr lang="en-US" sz="1100" dirty="0"/>
          </a:p>
        </p:txBody>
      </p:sp>
      <p:pic>
        <p:nvPicPr>
          <p:cNvPr id="10" name="Image 2" descr="D:\Documents\IU\MinduelLite\docs\screenshots\194-match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4754880" y="1737360"/>
            <a:ext cx="2011680" cy="2468880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4754880" y="4251960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AABBF"/>
                </a:solidFill>
              </a:rPr>
              <a:t>Match</a:t>
            </a:r>
            <a:endParaRPr lang="en-US" sz="1100" dirty="0"/>
          </a:p>
        </p:txBody>
      </p:sp>
      <p:pic>
        <p:nvPicPr>
          <p:cNvPr id="12" name="Image 3" descr="D:\Documents\IU\MinduelLite\docs\screenshots\195-result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6949440" y="1737360"/>
            <a:ext cx="2011680" cy="2468880"/>
          </a:xfrm>
          <a:prstGeom prst="rect">
            <a:avLst/>
          </a:prstGeom>
        </p:spPr>
      </p:pic>
      <p:sp>
        <p:nvSpPr>
          <p:cNvPr id="13" name="Text 7"/>
          <p:cNvSpPr/>
          <p:nvPr/>
        </p:nvSpPr>
        <p:spPr>
          <a:xfrm>
            <a:off x="6949440" y="4251960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AABBF"/>
                </a:solidFill>
              </a:rPr>
              <a:t>Result</a:t>
            </a:r>
            <a:endParaRPr lang="en-US" sz="1100" dirty="0"/>
          </a:p>
        </p:txBody>
      </p:sp>
      <p:sp>
        <p:nvSpPr>
          <p:cNvPr id="14" name="Text 8"/>
          <p:cNvSpPr/>
          <p:nvPr/>
        </p:nvSpPr>
        <p:spPr>
          <a:xfrm>
            <a:off x="457200" y="452628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AAB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Figures 2–5. Application screenshots of the planned four-screen journey (own software).</a:t>
            </a:r>
            <a:endParaRPr lang="en-US" sz="1000" dirty="0"/>
          </a:p>
        </p:txBody>
      </p:sp>
      <p:sp>
        <p:nvSpPr>
          <p:cNvPr id="15" name="Text 9"/>
          <p:cNvSpPr/>
          <p:nvPr/>
        </p:nvSpPr>
        <p:spPr>
          <a:xfrm>
            <a:off x="457200" y="4828032"/>
            <a:ext cx="6583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B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Minduel Lite  ·  DLBSEPPSD01_E  ·  Oral Project Report</a:t>
            </a:r>
            <a:endParaRPr lang="en-US" sz="900" dirty="0"/>
          </a:p>
        </p:txBody>
      </p:sp>
      <p:sp>
        <p:nvSpPr>
          <p:cNvPr id="16" name="Text 10"/>
          <p:cNvSpPr/>
          <p:nvPr/>
        </p:nvSpPr>
        <p:spPr>
          <a:xfrm>
            <a:off x="7863840" y="4828032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B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7/18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8229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Architecture — C4 containers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676656"/>
            <a:ext cx="1005840" cy="45720"/>
          </a:xfrm>
          <a:prstGeom prst="rect">
            <a:avLst/>
          </a:prstGeom>
          <a:solidFill>
            <a:srgbClr val="4F8CFF"/>
          </a:solidFill>
          <a:ln w="12700">
            <a:solidFill>
              <a:srgbClr val="4F8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8686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9AABBF"/>
                </a:solidFill>
              </a:rPr>
              <a:t>Design decision: one SPA, one API, one database — simplest structure that meets Task 2.</a:t>
            </a:r>
            <a:endParaRPr lang="en-US" sz="1200" dirty="0"/>
          </a:p>
        </p:txBody>
      </p:sp>
      <p:pic>
        <p:nvPicPr>
          <p:cNvPr id="5" name="Image 0" descr="D:\Documents\IU\MinduelLite\docs\screenshots\199-c4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188720" y="1143000"/>
            <a:ext cx="6766560" cy="32004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457200" y="452628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AAB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 6. C4 container diagram (own diagram). Backend is authoritative for game state.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457200" y="4828032"/>
            <a:ext cx="6583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B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Minduel Lite  ·  DLBSEPPSD01_E  ·  Oral Project Report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7863840" y="4828032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B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8/18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8229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Architecture — data model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676656"/>
            <a:ext cx="1005840" cy="45720"/>
          </a:xfrm>
          <a:prstGeom prst="rect">
            <a:avLst/>
          </a:prstGeom>
          <a:solidFill>
            <a:srgbClr val="4F8CFF"/>
          </a:solidFill>
          <a:ln w="12700">
            <a:solidFill>
              <a:srgbClr val="4F8CFF"/>
            </a:solidFill>
            <a:prstDash val="solid"/>
          </a:ln>
        </p:spPr>
      </p:sp>
      <p:pic>
        <p:nvPicPr>
          <p:cNvPr id="4" name="Image 0" descr="D:\Documents\IU\MinduelLite\docs\screenshots\200-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914400"/>
            <a:ext cx="8046720" cy="338328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452628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AAB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 7. ER diagram (own diagram). Five tables; 100×10 = 1,000 seeded questions.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457200" y="4828032"/>
            <a:ext cx="6583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B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Minduel Lite  ·  DLBSEPPSD01_E  ·  Oral Project Report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7863840" y="4828032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B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9/18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8229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Architecture — matchmaking logic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676656"/>
            <a:ext cx="1005840" cy="45720"/>
          </a:xfrm>
          <a:prstGeom prst="rect">
            <a:avLst/>
          </a:prstGeom>
          <a:solidFill>
            <a:srgbClr val="4F8CFF"/>
          </a:solidFill>
          <a:ln w="12700">
            <a:solidFill>
              <a:srgbClr val="4F8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0058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ECF8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similarity = sharedInterestCount / 3</a:t>
            </a:r>
            <a:endParaRPr lang="en-US" sz="20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554480"/>
          <a:ext cx="4937760" cy="2286000"/>
        </p:xfrm>
        <a:graphic>
          <a:graphicData uri="http://schemas.openxmlformats.org/drawingml/2006/table">
            <a:tbl>
              <a:tblPr/>
              <a:tblGrid>
                <a:gridCol w="1097280"/>
                <a:gridCol w="1371600"/>
                <a:gridCol w="246888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Shared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Similarity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Matchmaking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8EEF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33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8EEF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33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8EEF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Highest priority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33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8EEF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33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8EEF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 0.67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33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8EEF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Next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33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8EEF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33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8EEF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 0.33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33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8EEF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Lowest eligible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33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8EEF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33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8EEF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33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8EEF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Never matched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332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5669280" y="1554480"/>
            <a:ext cx="301752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EEF7"/>
                </a:solidFill>
              </a:rPr>
              <a:t>Implementation choice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8EEF7"/>
                </a:solidFill>
              </a:rPr>
              <a:t>Set intersection only — no ML, no vector DB.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8EEF7"/>
                </a:solidFill>
              </a:rPr>
              <a:t>Waiting player = P1; joiner = P2.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8EEF7"/>
                </a:solidFill>
              </a:rPr>
              <a:t>Tie-break: earliest joined_at.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8EEF7"/>
                </a:solidFill>
              </a:rPr>
              <a:t>Excerpt: calculateInterestOverlap / selectBestCandidate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457200" y="4828032"/>
            <a:ext cx="6583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B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Minduel Lite  ·  DLBSEPPSD01_E  ·  Oral Project Report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7863840" y="4828032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B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10/18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8229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Implementation — state machine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676656"/>
            <a:ext cx="1005840" cy="45720"/>
          </a:xfrm>
          <a:prstGeom prst="rect">
            <a:avLst/>
          </a:prstGeom>
          <a:solidFill>
            <a:srgbClr val="4F8CFF"/>
          </a:solidFill>
          <a:ln w="12700">
            <a:solidFill>
              <a:srgbClr val="4F8CFF"/>
            </a:solidFill>
            <a:prstDash val="solid"/>
          </a:ln>
        </p:spPr>
      </p:sp>
      <p:pic>
        <p:nvPicPr>
          <p:cNvPr id="4" name="Image 0" descr="D:\Documents\IU\MinduelLite\docs\screenshots\201-stat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28600" y="914400"/>
            <a:ext cx="4846320" cy="33832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212080" y="1051560"/>
            <a:ext cx="3474720" cy="3108960"/>
          </a:xfrm>
          <a:prstGeom prst="roundRect">
            <a:avLst>
              <a:gd name="adj" fmla="val 2353"/>
            </a:avLst>
          </a:prstGeom>
          <a:solidFill>
            <a:srgbClr val="1A2332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5394960" y="118872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F8CFF"/>
                </a:solidFill>
              </a:rPr>
              <a:t>Backend authority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5394960" y="1554480"/>
            <a:ext cx="31089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 polls phase; does not invent rules.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resolveAfterBothReviews: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flags ≥ 3 → THREE_FLAGS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Q = 10 → COMPLETED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else next question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advanceMatch() applies the decision in SQL.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457200" y="452628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AAB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 8. User flow &amp; match state (own diagram). Code: matchService.js.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457200" y="4828032"/>
            <a:ext cx="6583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B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Minduel Lite  ·  DLBSEPPSD01_E  ·  Oral Project Report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863840" y="4828032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B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11/18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8229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Testing &amp; reproducible run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676656"/>
            <a:ext cx="1005840" cy="45720"/>
          </a:xfrm>
          <a:prstGeom prst="rect">
            <a:avLst/>
          </a:prstGeom>
          <a:solidFill>
            <a:srgbClr val="4F8CFF"/>
          </a:solidFill>
          <a:ln w="12700">
            <a:solidFill>
              <a:srgbClr val="4F8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8686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9AABBF"/>
                </a:solidFill>
              </a:rPr>
              <a:t>Automated tests cover core business rules; Docker Compose is the only required runtime path.</a:t>
            </a:r>
            <a:endParaRPr lang="en-US" sz="1200" dirty="0"/>
          </a:p>
        </p:txBody>
      </p:sp>
      <p:pic>
        <p:nvPicPr>
          <p:cNvPr id="5" name="Image 0" descr="D:\Documents\IU\MinduelLite\docs\screenshots\197-test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74320" y="1188720"/>
            <a:ext cx="4389120" cy="3017520"/>
          </a:xfrm>
          <a:prstGeom prst="rect">
            <a:avLst/>
          </a:prstGeom>
        </p:spPr>
      </p:pic>
      <p:pic>
        <p:nvPicPr>
          <p:cNvPr id="6" name="Image 1" descr="D:\Documents\IU\MinduelLite\docs\screenshots\198-docker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846320" y="1188720"/>
            <a:ext cx="3931920" cy="201168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4846320" y="3337560"/>
            <a:ext cx="393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B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Command: docker compose up --build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9AAB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 manual DB setup (schema.sql + seed.sql).</a:t>
            </a:r>
            <a:endParaRPr lang="en-US" sz="1200" dirty="0"/>
          </a:p>
        </p:txBody>
      </p:sp>
      <p:sp>
        <p:nvSpPr>
          <p:cNvPr id="8" name="Text 4"/>
          <p:cNvSpPr/>
          <p:nvPr/>
        </p:nvSpPr>
        <p:spPr>
          <a:xfrm>
            <a:off x="457200" y="452628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AAB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Figures 9–10. Test run output; Docker Compose services (own environment).</a:t>
            </a:r>
            <a:endParaRPr lang="en-US" sz="1000" dirty="0"/>
          </a:p>
        </p:txBody>
      </p:sp>
      <p:sp>
        <p:nvSpPr>
          <p:cNvPr id="9" name="Text 5"/>
          <p:cNvSpPr/>
          <p:nvPr/>
        </p:nvSpPr>
        <p:spPr>
          <a:xfrm>
            <a:off x="457200" y="4828032"/>
            <a:ext cx="6583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B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Minduel Lite  ·  DLBSEPPSD01_E  ·  Oral Project Report</a:t>
            </a:r>
            <a:endParaRPr lang="en-US" sz="900" dirty="0"/>
          </a:p>
        </p:txBody>
      </p:sp>
      <p:sp>
        <p:nvSpPr>
          <p:cNvPr id="10" name="Text 6"/>
          <p:cNvSpPr/>
          <p:nvPr/>
        </p:nvSpPr>
        <p:spPr>
          <a:xfrm>
            <a:off x="7863840" y="4828032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B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12/18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8229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Software result — what was demonstrated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676656"/>
            <a:ext cx="1005840" cy="45720"/>
          </a:xfrm>
          <a:prstGeom prst="rect">
            <a:avLst/>
          </a:prstGeom>
          <a:solidFill>
            <a:srgbClr val="4F8CFF"/>
          </a:solidFill>
          <a:ln w="12700">
            <a:solidFill>
              <a:srgbClr val="4F8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9601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9AABBF"/>
                </a:solidFill>
              </a:rPr>
              <a:t>Evidence of an operational system (process outcome), not a feature-by-feature UI description: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48640" y="1417320"/>
            <a:ext cx="804672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E8EEF7"/>
                </a:solidFill>
              </a:rPr>
              <a:t>Two independent browser sessions share one backend and database</a:t>
            </a:r>
            <a:endParaRPr lang="en-US" sz="14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E8EEF7"/>
                </a:solidFill>
              </a:rPr>
              <a:t>Interest matchmaking pairs compatible players into one matchId</a:t>
            </a:r>
            <a:endParaRPr lang="en-US" sz="14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E8EEF7"/>
                </a:solidFill>
              </a:rPr>
              <a:t>Authoritative phases: answer → score → review; flags and Q10 termination</a:t>
            </a:r>
            <a:endParaRPr lang="en-US" sz="14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E8EEF7"/>
                </a:solidFill>
              </a:rPr>
              <a:t>Results exclude flagged scores; play-again reuses temporary session</a:t>
            </a:r>
            <a:endParaRPr lang="en-US" sz="14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E8EEF7"/>
                </a:solidFill>
              </a:rPr>
              <a:t>Clean volume init: five tables + 1,000 questions without manual SQL steps</a:t>
            </a:r>
            <a:endParaRPr lang="en-US" sz="14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E8EEF7"/>
                </a:solidFill>
              </a:rPr>
              <a:t>Repository published with frontend, backend, DB, Docker, tests, docs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4828032"/>
            <a:ext cx="6583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B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Minduel Lite  ·  DLBSEPPSD01_E  ·  Oral Project Report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7863840" y="4828032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B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13/18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8229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Evaluation — goal &amp; limitations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676656"/>
            <a:ext cx="1005840" cy="45720"/>
          </a:xfrm>
          <a:prstGeom prst="rect">
            <a:avLst/>
          </a:prstGeom>
          <a:solidFill>
            <a:srgbClr val="4F8CFF"/>
          </a:solidFill>
          <a:ln w="12700">
            <a:solidFill>
              <a:srgbClr val="4F8C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1005840"/>
            <a:ext cx="4023360" cy="3200400"/>
          </a:xfrm>
          <a:prstGeom prst="roundRect">
            <a:avLst>
              <a:gd name="adj" fmla="val 2286"/>
            </a:avLst>
          </a:prstGeom>
          <a:solidFill>
            <a:srgbClr val="1A2332"/>
          </a:solidFill>
          <a:ln w="12700">
            <a:solidFill>
              <a:srgbClr val="3ECF8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14300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ECF8E"/>
                </a:solidFill>
              </a:rPr>
              <a:t>Goal achieved?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40080" y="1554480"/>
            <a:ext cx="36576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8EEF7"/>
                </a:solidFill>
              </a:rPr>
              <a:t>Yes — for the defined academic objective: a reliable local full-stack demonstration of Task 2 requirements (SPA, backend, tests, Docker, documentation), not a commercial product.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663440" y="1005840"/>
            <a:ext cx="4023360" cy="3200400"/>
          </a:xfrm>
          <a:prstGeom prst="roundRect">
            <a:avLst>
              <a:gd name="adj" fmla="val 2286"/>
            </a:avLst>
          </a:prstGeom>
          <a:solidFill>
            <a:srgbClr val="1A2332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846320" y="114300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9AABBF"/>
                </a:solidFill>
              </a:rPr>
              <a:t>Known limitations (by design)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4846320" y="1554480"/>
            <a:ext cx="36576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8EEF7"/>
                </a:solidFill>
              </a:rPr>
              <a:t>No accounts · no production auth · polling not WebSockets · no disconnect recovery · subjective scoring · no moderation/history/audio · local Docker only · no production scale strategy.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57200" y="4828032"/>
            <a:ext cx="6583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B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Minduel Lite  ·  DLBSEPPSD01_E  ·  Oral Project Report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7863840" y="4828032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B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14/18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8229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Reflection &amp; future improvements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676656"/>
            <a:ext cx="1005840" cy="45720"/>
          </a:xfrm>
          <a:prstGeom prst="rect">
            <a:avLst/>
          </a:prstGeom>
          <a:solidFill>
            <a:srgbClr val="4F8CFF"/>
          </a:solidFill>
          <a:ln w="12700">
            <a:solidFill>
              <a:srgbClr val="4F8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96012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F8CFF"/>
                </a:solidFill>
              </a:rPr>
              <a:t>Lessons from this implementation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57200" y="1325880"/>
            <a:ext cx="411480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E8EEF7"/>
                </a:solidFill>
              </a:rPr>
              <a:t>Explicit exclusions reduced delivery risk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E8EEF7"/>
                </a:solidFill>
              </a:rPr>
              <a:t>Server-owned state simplified multiplayer consistency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E8EEF7"/>
                </a:solidFill>
              </a:rPr>
              <a:t>Polling was adequate for a two-player demo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E8EEF7"/>
                </a:solidFill>
              </a:rPr>
              <a:t>Focused tests beat high test volume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846320" y="96012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AABBF"/>
                </a:solidFill>
              </a:rPr>
              <a:t>Discussed only (not implemented)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846320" y="1325880"/>
            <a:ext cx="384048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E8EEF7"/>
                </a:solidFill>
              </a:rPr>
              <a:t>Authenticated accounts &amp; history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E8EEF7"/>
                </a:solidFill>
              </a:rPr>
              <a:t>WebSockets / optional WebRTC audio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E8EEF7"/>
                </a:solidFill>
              </a:rPr>
              <a:t>Moderation &amp; rankings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E8EEF7"/>
                </a:solidFill>
              </a:rPr>
              <a:t>Cloud deployment &amp; stronger security ops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57200" y="4828032"/>
            <a:ext cx="6583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B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Minduel Lite  ·  DLBSEPPSD01_E  ·  Oral Project Report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7863840" y="4828032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B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15/18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8229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676656"/>
            <a:ext cx="1005840" cy="45720"/>
          </a:xfrm>
          <a:prstGeom prst="rect">
            <a:avLst/>
          </a:prstGeom>
          <a:solidFill>
            <a:srgbClr val="4F8CFF"/>
          </a:solidFill>
          <a:ln w="12700">
            <a:solidFill>
              <a:srgbClr val="4F8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1188720"/>
            <a:ext cx="804672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E8EEF7"/>
                </a:solidFill>
              </a:rPr>
              <a:t>Task definition drove a deliberately small MVP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E8EEF7"/>
                </a:solidFill>
              </a:rPr>
              <a:t>Kanban + iterative increments structured solo development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E8EEF7"/>
                </a:solidFill>
              </a:rPr>
              <a:t>Architecture and state machine kept multiplayer consistent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E8EEF7"/>
                </a:solidFill>
              </a:rPr>
              <a:t>Tests, Docker, and GitHub complete the Task 2 evidence chain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57200" y="3566160"/>
            <a:ext cx="8229600" cy="777240"/>
          </a:xfrm>
          <a:prstGeom prst="roundRect">
            <a:avLst>
              <a:gd name="adj" fmla="val 9412"/>
            </a:avLst>
          </a:prstGeom>
          <a:solidFill>
            <a:srgbClr val="1A2332"/>
          </a:solidFill>
          <a:ln w="12700">
            <a:solidFill>
              <a:srgbClr val="4F8CFF"/>
            </a:solidFill>
            <a:prstDash val="solid"/>
          </a:ln>
        </p:spPr>
      </p:sp>
      <p:sp>
        <p:nvSpPr>
          <p:cNvPr id="6" name="Text 4">
            <a:hlinkClick r:id="rId1" tooltip=""/>
          </p:cNvPr>
          <p:cNvSpPr/>
          <p:nvPr/>
        </p:nvSpPr>
        <p:spPr>
          <a:xfrm>
            <a:off x="640080" y="379476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u="sng" dirty="0">
                <a:solidFill>
                  <a:srgbClr val="4F8CFF"/>
                </a:solidFill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https://github.com/MahmoudBKanaan/MiduelLite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457200" y="4828032"/>
            <a:ext cx="6583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B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Minduel Lite  ·  DLBSEPPSD01_E  ·  Oral Project Report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7863840" y="4828032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B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16/18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8229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 of figures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676656"/>
            <a:ext cx="1005840" cy="45720"/>
          </a:xfrm>
          <a:prstGeom prst="rect">
            <a:avLst/>
          </a:prstGeom>
          <a:solidFill>
            <a:srgbClr val="4F8CFF"/>
          </a:solidFill>
          <a:ln w="12700">
            <a:solidFill>
              <a:srgbClr val="4F8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86868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9AABBF"/>
                </a:solidFill>
              </a:rPr>
              <a:t>All figures below are the author’s own work produced for this project (UI screenshots, process evidence, and original diagrams). External materials are listed only in the bibliography.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1417320"/>
            <a:ext cx="822960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500"/>
              </a:spcAft>
              <a:buNone/>
            </a:pPr>
            <a:r>
              <a:rPr lang="en-US" sz="1300" dirty="0">
                <a:solidFill>
                  <a:srgbClr val="E8EEF7"/>
                </a:solidFill>
              </a:rPr>
              <a:t>Figure 1. Kanban board snapshot (project process evidence).</a:t>
            </a:r>
            <a:endParaRPr lang="en-US" sz="13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300" dirty="0">
                <a:solidFill>
                  <a:srgbClr val="E8EEF7"/>
                </a:solidFill>
              </a:rPr>
              <a:t>Figures 2–5. Application screenshots: Welcome, Pool, Match, Result (own software).</a:t>
            </a:r>
            <a:endParaRPr lang="en-US" sz="13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300" dirty="0">
                <a:solidFill>
                  <a:srgbClr val="E8EEF7"/>
                </a:solidFill>
              </a:rPr>
              <a:t>Figure 6. C4 container architecture diagram (own diagram).</a:t>
            </a:r>
            <a:endParaRPr lang="en-US" sz="13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300" dirty="0">
                <a:solidFill>
                  <a:srgbClr val="E8EEF7"/>
                </a:solidFill>
              </a:rPr>
              <a:t>Figure 7. Entity-relationship diagram (own diagram).</a:t>
            </a:r>
            <a:endParaRPr lang="en-US" sz="13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300" dirty="0">
                <a:solidFill>
                  <a:srgbClr val="E8EEF7"/>
                </a:solidFill>
              </a:rPr>
              <a:t>Figure 8. User flow and match state machine (own diagram).</a:t>
            </a:r>
            <a:endParaRPr lang="en-US" sz="13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300" dirty="0">
                <a:solidFill>
                  <a:srgbClr val="E8EEF7"/>
                </a:solidFill>
              </a:rPr>
              <a:t>Figure 9. Automated test run output (own development environment).</a:t>
            </a:r>
            <a:endParaRPr lang="en-US" sz="13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300" dirty="0">
                <a:solidFill>
                  <a:srgbClr val="E8EEF7"/>
                </a:solidFill>
              </a:rPr>
              <a:t>Figure 10. Docker Compose services status (own development environment).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4828032"/>
            <a:ext cx="6583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B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Minduel Lite  ·  DLBSEPPSD01_E  ·  Oral Project Report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7863840" y="4828032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B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17/18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8229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Bibliography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676656"/>
            <a:ext cx="1005840" cy="45720"/>
          </a:xfrm>
          <a:prstGeom prst="rect">
            <a:avLst/>
          </a:prstGeom>
          <a:solidFill>
            <a:srgbClr val="4F8CFF"/>
          </a:solidFill>
          <a:ln w="12700">
            <a:solidFill>
              <a:srgbClr val="4F8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86868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9AABBF"/>
                </a:solidFill>
              </a:rPr>
              <a:t>APA 7th-style references for external sources used in the project and presentation. Original project diagrams and screenshots are not external sources.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1325880"/>
            <a:ext cx="822960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rgbClr val="E8EEF7"/>
                </a:solidFill>
              </a:rPr>
              <a:t>IU International University of Applied Sciences. (n.d.). Task for course DLBSEPPSD01_E – Software Development [Examination task]. Examination Office.</a:t>
            </a:r>
            <a:endParaRPr lang="en-US" sz="11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rgbClr val="E8EEF7"/>
                </a:solidFill>
              </a:rPr>
              <a:t>IU International University of Applied Sciences. (n.d.). Guidelines for the creation of an oral project report. Examination Office.</a:t>
            </a:r>
            <a:endParaRPr lang="en-US" sz="11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rgbClr val="E8EEF7"/>
                </a:solidFill>
              </a:rPr>
              <a:t>Meta Platforms. (n.d.). React documentation. https://react.dev/</a:t>
            </a:r>
            <a:endParaRPr lang="en-US" sz="11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rgbClr val="E8EEF7"/>
                </a:solidFill>
              </a:rPr>
              <a:t>OpenJS Foundation. (n.d.). Express — Node.js web application framework. https://expressjs.com/</a:t>
            </a:r>
            <a:endParaRPr lang="en-US" sz="11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rgbClr val="E8EEF7"/>
                </a:solidFill>
              </a:rPr>
              <a:t>PostgreSQL Global Development Group. (n.d.). PostgreSQL documentation. https://www.postgresql.org/docs/</a:t>
            </a:r>
            <a:endParaRPr lang="en-US" sz="11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rgbClr val="E8EEF7"/>
                </a:solidFill>
              </a:rPr>
              <a:t>Docker Inc. (n.d.). Docker Compose documentation. https://docs.docker.com/compose/</a:t>
            </a:r>
            <a:endParaRPr lang="en-US" sz="11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rgbClr val="E8EEF7"/>
                </a:solidFill>
              </a:rPr>
              <a:t>Kanaan, M. B. (2026). Minduel Lite [Computer software]. GitHub. https://github.com/MahmoudBKanaan/MiduelLite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4828032"/>
            <a:ext cx="6583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B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Minduel Lite  ·  DLBSEPPSD01_E  ·  Oral Project Report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7863840" y="4828032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B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18/18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Minduel Lite — IU Oral Project Report</dc:title>
  <dc:subject>DLBSEPPSD01_E Software Development Task 2</dc:subject>
  <dc:creator>Minduel Lite Project</dc:creator>
  <cp:lastModifiedBy>Minduel Lite Project</cp:lastModifiedBy>
  <cp:revision>1</cp:revision>
  <dcterms:created xsi:type="dcterms:W3CDTF">2026-07-27T15:29:25Z</dcterms:created>
  <dcterms:modified xsi:type="dcterms:W3CDTF">2026-07-27T15:29:25Z</dcterms:modified>
</cp:coreProperties>
</file>